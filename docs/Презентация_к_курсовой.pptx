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FCE7A9-A7C4-C82D-FB6E-7D012A69EF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956888-4B28-DDD6-6400-24ED5D680B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7A8547-FE41-EABC-E4D5-025B175592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1B58B9-E616-6082-8245-107B2FDD83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9E29BF-9C5E-8F79-2022-7C5D877A9B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A28142-ED87-A2D7-E207-F1203A4D3D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48982D-D78F-C199-429C-AD0D7CB31D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36722-2908-5053-4B0C-729EFE6C2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2E0F45-4CF6-E0EB-6757-CF1C83B2BD0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627753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8032602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9601202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756797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97210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7971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295715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04519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484788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03014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670551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2012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155624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188542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47451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5733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973093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659860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9038088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6228838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698715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5005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39434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3137974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66555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3911664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675503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655533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003056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3569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220109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1168003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973484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25092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1026410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482813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600068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984699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5777482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581803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46546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203559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353760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739722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10770659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56789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2042366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487486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0826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5864044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059493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857186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29556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09448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717085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182077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04856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45730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499965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36507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890298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1258900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103080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7F0E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478583" name="Rectangle 1"/>
          <p:cNvSpPr/>
          <p:nvPr/>
        </p:nvSpPr>
        <p:spPr bwMode="auto">
          <a:xfrm>
            <a:off x="0" y="0"/>
            <a:ext cx="12191695" cy="658368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3421403" name="TextBox 2"/>
          <p:cNvSpPr txBox="1"/>
          <p:nvPr/>
        </p:nvSpPr>
        <p:spPr bwMode="auto">
          <a:xfrm>
            <a:off x="731520" y="109728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231B14"/>
                </a:solidFill>
                <a:latin typeface="Times New Roman"/>
              </a:rPr>
              <a:t>Разработка информационной системы управления заявками</a:t>
            </a:r>
            <a:endParaRPr/>
          </a:p>
        </p:txBody>
      </p:sp>
      <p:sp>
        <p:nvSpPr>
          <p:cNvPr id="481077003" name="TextBox 3"/>
          <p:cNvSpPr txBox="1"/>
          <p:nvPr/>
        </p:nvSpPr>
        <p:spPr bwMode="auto">
          <a:xfrm>
            <a:off x="749808" y="214884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100" b="0">
                <a:solidFill>
                  <a:srgbClr val="6C5C49"/>
                </a:solidFill>
                <a:latin typeface="Times New Roman"/>
              </a:rPr>
              <a:t>Курсовой проект по разработке web-приложения на Laravel с использованием MySQL и Git.</a:t>
            </a:r>
            <a:endParaRPr/>
          </a:p>
        </p:txBody>
      </p:sp>
      <p:sp>
        <p:nvSpPr>
          <p:cNvPr id="150594337" name="Rounded Rectangle 4"/>
          <p:cNvSpPr/>
          <p:nvPr/>
        </p:nvSpPr>
        <p:spPr bwMode="auto">
          <a:xfrm>
            <a:off x="749808" y="3840480"/>
            <a:ext cx="4572000" cy="1325880"/>
          </a:xfrm>
          <a:prstGeom prst="roundRect">
            <a:avLst>
              <a:gd name="adj" fmla="val 16667"/>
            </a:avLst>
          </a:prstGeom>
          <a:solidFill>
            <a:srgbClr val="FFFBF5"/>
          </a:solidFill>
          <a:ln w="15240">
            <a:solidFill>
              <a:srgbClr val="DCC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8605120" name="TextBox 5"/>
          <p:cNvSpPr txBox="1"/>
          <p:nvPr/>
        </p:nvSpPr>
        <p:spPr bwMode="auto">
          <a:xfrm>
            <a:off x="950976" y="3968496"/>
            <a:ext cx="41696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8E4A2A"/>
                </a:solidFill>
                <a:latin typeface="Times New Roman"/>
              </a:rPr>
              <a:t>Основные технологии</a:t>
            </a:r>
            <a:endParaRPr/>
          </a:p>
        </p:txBody>
      </p:sp>
      <p:sp>
        <p:nvSpPr>
          <p:cNvPr id="265577192" name="TextBox 6"/>
          <p:cNvSpPr txBox="1"/>
          <p:nvPr/>
        </p:nvSpPr>
        <p:spPr bwMode="auto">
          <a:xfrm>
            <a:off x="960120" y="4251960"/>
            <a:ext cx="4165200" cy="793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Aft>
                <a:spcPts val="1000"/>
              </a:spcAft>
              <a:defRPr sz="1900">
                <a:solidFill>
                  <a:srgbClr val="231B14"/>
                </a:solidFill>
                <a:latin typeface="Times New Roman"/>
              </a:defRPr>
            </a:pPr>
            <a:r>
              <a:rPr/>
              <a:t>Laravel 11			</a:t>
            </a:r>
            <a:r>
              <a:rPr/>
              <a:t>PHP 8.2</a:t>
            </a:r>
            <a:endParaRPr/>
          </a:p>
          <a:p>
            <a:pPr algn="l">
              <a:lnSpc>
                <a:spcPct val="114999"/>
              </a:lnSpc>
              <a:spcAft>
                <a:spcPts val="1000"/>
              </a:spcAft>
              <a:defRPr sz="1900">
                <a:solidFill>
                  <a:srgbClr val="231B14"/>
                </a:solidFill>
                <a:latin typeface="Times New Roman"/>
              </a:defRPr>
            </a:pPr>
            <a:r>
              <a:rPr/>
              <a:t>MySQL				</a:t>
            </a:r>
            <a:r>
              <a:rPr/>
              <a:t>Git</a:t>
            </a:r>
            <a:endParaRPr/>
          </a:p>
        </p:txBody>
      </p:sp>
      <p:sp>
        <p:nvSpPr>
          <p:cNvPr id="5388027" name="Rounded Rectangle 7"/>
          <p:cNvSpPr/>
          <p:nvPr/>
        </p:nvSpPr>
        <p:spPr bwMode="auto">
          <a:xfrm>
            <a:off x="5669280" y="3840480"/>
            <a:ext cx="5577840" cy="1325880"/>
          </a:xfrm>
          <a:prstGeom prst="roundRect">
            <a:avLst>
              <a:gd name="adj" fmla="val 16667"/>
            </a:avLst>
          </a:prstGeom>
          <a:solidFill>
            <a:srgbClr val="FFFBF5"/>
          </a:solidFill>
          <a:ln w="15240">
            <a:solidFill>
              <a:srgbClr val="DCC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6882479" name="TextBox 8"/>
          <p:cNvSpPr txBox="1"/>
          <p:nvPr/>
        </p:nvSpPr>
        <p:spPr bwMode="auto">
          <a:xfrm>
            <a:off x="5870448" y="3968496"/>
            <a:ext cx="517550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8E4A2A"/>
                </a:solidFill>
                <a:latin typeface="Times New Roman"/>
              </a:rPr>
              <a:t>Назначение проекта</a:t>
            </a:r>
            <a:endParaRPr/>
          </a:p>
        </p:txBody>
      </p:sp>
      <p:sp>
        <p:nvSpPr>
          <p:cNvPr id="1074926028" name="TextBox 9"/>
          <p:cNvSpPr txBox="1"/>
          <p:nvPr/>
        </p:nvSpPr>
        <p:spPr bwMode="auto">
          <a:xfrm>
            <a:off x="5897880" y="42976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900" b="0">
                <a:solidFill>
                  <a:srgbClr val="231B14"/>
                </a:solidFill>
                <a:latin typeface="Times New Roman"/>
              </a:rPr>
              <a:t>Централизованный учет, просмотр и сопровождение внутренних заявок пользователей.</a:t>
            </a:r>
            <a:endParaRPr/>
          </a:p>
        </p:txBody>
      </p:sp>
      <p:sp>
        <p:nvSpPr>
          <p:cNvPr id="1630071181" name="TextBox 10"/>
          <p:cNvSpPr txBox="1"/>
          <p:nvPr/>
        </p:nvSpPr>
        <p:spPr bwMode="auto">
          <a:xfrm>
            <a:off x="749808" y="6355080"/>
            <a:ext cx="10973520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7F0E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272010" name="Rectangle 1"/>
          <p:cNvSpPr/>
          <p:nvPr/>
        </p:nvSpPr>
        <p:spPr bwMode="auto"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5815440" name="Rounded Rectangle 2"/>
          <p:cNvSpPr/>
          <p:nvPr/>
        </p:nvSpPr>
        <p:spPr bwMode="auto">
          <a:xfrm>
            <a:off x="9646920" y="749808"/>
            <a:ext cx="2011680" cy="384048"/>
          </a:xfrm>
          <a:prstGeom prst="roundRect">
            <a:avLst>
              <a:gd name="adj" fmla="val 16667"/>
            </a:avLst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1200" b="1">
                <a:solidFill>
                  <a:srgbClr val="8E4A2A"/>
                </a:solidFill>
                <a:latin typeface="Times New Roman"/>
              </a:rPr>
              <a:t>Цель и задачи</a:t>
            </a:r>
            <a:endParaRPr/>
          </a:p>
        </p:txBody>
      </p:sp>
      <p:sp>
        <p:nvSpPr>
          <p:cNvPr id="1335644150" name="TextBox 3"/>
          <p:cNvSpPr txBox="1"/>
          <p:nvPr/>
        </p:nvSpPr>
        <p:spPr bwMode="auto"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231B14"/>
                </a:solidFill>
                <a:latin typeface="Times New Roman"/>
              </a:rPr>
              <a:t>Введение</a:t>
            </a:r>
            <a:endParaRPr/>
          </a:p>
        </p:txBody>
      </p:sp>
      <p:sp>
        <p:nvSpPr>
          <p:cNvPr id="1722134947" name="TextBox 4"/>
          <p:cNvSpPr txBox="1"/>
          <p:nvPr/>
        </p:nvSpPr>
        <p:spPr bwMode="auto">
          <a:xfrm>
            <a:off x="11338164" y="6400800"/>
            <a:ext cx="183636" cy="366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endParaRPr/>
          </a:p>
        </p:txBody>
      </p:sp>
      <p:sp>
        <p:nvSpPr>
          <p:cNvPr id="2121755959" name="TextBox 5"/>
          <p:cNvSpPr txBox="1"/>
          <p:nvPr/>
        </p:nvSpPr>
        <p:spPr bwMode="auto">
          <a:xfrm>
            <a:off x="914400" y="1828800"/>
            <a:ext cx="1024128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rPr/>
              <a:t>Актуальность: автоматизация учета внутренних заявок в организации.</a:t>
            </a:r>
            <a:endParaRPr/>
          </a:p>
          <a:p>
            <a:pPr algn="l">
              <a:lnSpc>
                <a:spcPct val="114999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rPr/>
              <a:t>Цель: создать web-систему управления заявками на Laravel с MySQL.</a:t>
            </a:r>
            <a:endParaRPr/>
          </a:p>
          <a:p>
            <a:pPr algn="l">
              <a:lnSpc>
                <a:spcPct val="114999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rPr/>
              <a:t>Задачи: анализ, проектирование, клиентская и серверная часть, тестирование.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7F0E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84553" name="Rectangle 1"/>
          <p:cNvSpPr/>
          <p:nvPr/>
        </p:nvSpPr>
        <p:spPr bwMode="auto"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0234443" name="Rounded Rectangle 2"/>
          <p:cNvSpPr/>
          <p:nvPr/>
        </p:nvSpPr>
        <p:spPr bwMode="auto">
          <a:xfrm>
            <a:off x="9646920" y="749808"/>
            <a:ext cx="2011680" cy="384048"/>
          </a:xfrm>
          <a:prstGeom prst="roundRect">
            <a:avLst>
              <a:gd name="adj" fmla="val 16667"/>
            </a:avLst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1200" b="1">
                <a:solidFill>
                  <a:srgbClr val="8E4A2A"/>
                </a:solidFill>
                <a:latin typeface="Times New Roman"/>
              </a:rPr>
              <a:t>Исследование</a:t>
            </a:r>
            <a:endParaRPr/>
          </a:p>
        </p:txBody>
      </p:sp>
      <p:sp>
        <p:nvSpPr>
          <p:cNvPr id="1371731629" name="TextBox 3"/>
          <p:cNvSpPr txBox="1"/>
          <p:nvPr/>
        </p:nvSpPr>
        <p:spPr bwMode="auto"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231B14"/>
                </a:solidFill>
                <a:latin typeface="Times New Roman"/>
              </a:rPr>
              <a:t>Анализ предметной области</a:t>
            </a:r>
            <a:endParaRPr/>
          </a:p>
        </p:txBody>
      </p:sp>
      <p:sp>
        <p:nvSpPr>
          <p:cNvPr id="2111661730" name="TextBox 5"/>
          <p:cNvSpPr txBox="1"/>
          <p:nvPr/>
        </p:nvSpPr>
        <p:spPr bwMode="auto">
          <a:xfrm>
            <a:off x="914400" y="1828800"/>
            <a:ext cx="1024128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rPr/>
              <a:t>Изучена структура организации, роли и бизнес-процессы заявок.</a:t>
            </a:r>
            <a:endParaRPr/>
          </a:p>
          <a:p>
            <a:pPr algn="l">
              <a:lnSpc>
                <a:spcPct val="114999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rPr/>
              <a:t>Определены требования к статусам, правам доступа и данным заявки.</a:t>
            </a:r>
            <a:endParaRPr/>
          </a:p>
          <a:p>
            <a:pPr algn="l">
              <a:lnSpc>
                <a:spcPct val="114999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rPr/>
              <a:t>Выбран web-подход на Laravel для удобства эксплуатации и развития.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7F0E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236103" name="Rectangle 1"/>
          <p:cNvSpPr/>
          <p:nvPr/>
        </p:nvSpPr>
        <p:spPr bwMode="auto"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6430990" name="Rounded Rectangle 2"/>
          <p:cNvSpPr/>
          <p:nvPr/>
        </p:nvSpPr>
        <p:spPr bwMode="auto">
          <a:xfrm>
            <a:off x="9646920" y="749808"/>
            <a:ext cx="2011680" cy="384048"/>
          </a:xfrm>
          <a:prstGeom prst="roundRect">
            <a:avLst>
              <a:gd name="adj" fmla="val 16667"/>
            </a:avLst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1200" b="1">
                <a:solidFill>
                  <a:srgbClr val="8E4A2A"/>
                </a:solidFill>
                <a:latin typeface="Times New Roman"/>
              </a:rPr>
              <a:t>Интерфейс</a:t>
            </a:r>
            <a:endParaRPr/>
          </a:p>
        </p:txBody>
      </p:sp>
      <p:sp>
        <p:nvSpPr>
          <p:cNvPr id="142109004" name="TextBox 3"/>
          <p:cNvSpPr txBox="1"/>
          <p:nvPr/>
        </p:nvSpPr>
        <p:spPr bwMode="auto"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231B14"/>
                </a:solidFill>
                <a:latin typeface="Times New Roman"/>
              </a:rPr>
              <a:t>Разработка клиентской части</a:t>
            </a:r>
            <a:endParaRPr/>
          </a:p>
        </p:txBody>
      </p:sp>
      <p:pic>
        <p:nvPicPr>
          <p:cNvPr id="1008272839" name="Picture 5" descr="mockup_login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0080" y="1737360"/>
            <a:ext cx="3931920" cy="2211705"/>
          </a:xfrm>
          <a:prstGeom prst="rect">
            <a:avLst/>
          </a:prstGeom>
        </p:spPr>
      </p:pic>
      <p:sp>
        <p:nvSpPr>
          <p:cNvPr id="1587796467" name="TextBox 6"/>
          <p:cNvSpPr txBox="1"/>
          <p:nvPr/>
        </p:nvSpPr>
        <p:spPr bwMode="auto">
          <a:xfrm>
            <a:off x="640080" y="37947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0">
                <a:solidFill>
                  <a:srgbClr val="8E4A2A"/>
                </a:solidFill>
                <a:latin typeface="Times New Roman"/>
              </a:rPr>
              <a:t>Вход в систему</a:t>
            </a:r>
            <a:endParaRPr/>
          </a:p>
        </p:txBody>
      </p:sp>
      <p:pic>
        <p:nvPicPr>
          <p:cNvPr id="1073141664" name="Picture 7" descr="mockup_journal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400800" y="1737360"/>
            <a:ext cx="3931920" cy="2211705"/>
          </a:xfrm>
          <a:prstGeom prst="rect">
            <a:avLst/>
          </a:prstGeom>
        </p:spPr>
      </p:pic>
      <p:sp>
        <p:nvSpPr>
          <p:cNvPr id="813051009" name="TextBox 8"/>
          <p:cNvSpPr txBox="1"/>
          <p:nvPr/>
        </p:nvSpPr>
        <p:spPr bwMode="auto">
          <a:xfrm>
            <a:off x="6400800" y="37947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0">
                <a:solidFill>
                  <a:srgbClr val="8E4A2A"/>
                </a:solidFill>
                <a:latin typeface="Times New Roman"/>
              </a:rPr>
              <a:t>Журнал заявок</a:t>
            </a:r>
            <a:endParaRPr/>
          </a:p>
        </p:txBody>
      </p:sp>
      <p:pic>
        <p:nvPicPr>
          <p:cNvPr id="857882550" name="Picture 9" descr="mockup_creat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40080" y="3840480"/>
            <a:ext cx="3931920" cy="2211705"/>
          </a:xfrm>
          <a:prstGeom prst="rect">
            <a:avLst/>
          </a:prstGeom>
        </p:spPr>
      </p:pic>
      <p:sp>
        <p:nvSpPr>
          <p:cNvPr id="1469824646" name="TextBox 10"/>
          <p:cNvSpPr txBox="1"/>
          <p:nvPr/>
        </p:nvSpPr>
        <p:spPr bwMode="auto">
          <a:xfrm>
            <a:off x="640080" y="58978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0">
                <a:solidFill>
                  <a:srgbClr val="8E4A2A"/>
                </a:solidFill>
                <a:latin typeface="Times New Roman"/>
              </a:rPr>
              <a:t>Добавление заявки</a:t>
            </a:r>
            <a:endParaRPr/>
          </a:p>
        </p:txBody>
      </p:sp>
      <p:pic>
        <p:nvPicPr>
          <p:cNvPr id="1823474609" name="Picture 11" descr="mockup_ticket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400800" y="3840480"/>
            <a:ext cx="3931920" cy="2211705"/>
          </a:xfrm>
          <a:prstGeom prst="rect">
            <a:avLst/>
          </a:prstGeom>
        </p:spPr>
      </p:pic>
      <p:sp>
        <p:nvSpPr>
          <p:cNvPr id="153584110" name="TextBox 12"/>
          <p:cNvSpPr txBox="1"/>
          <p:nvPr/>
        </p:nvSpPr>
        <p:spPr bwMode="auto">
          <a:xfrm>
            <a:off x="6400800" y="58978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0">
                <a:solidFill>
                  <a:srgbClr val="8E4A2A"/>
                </a:solidFill>
                <a:latin typeface="Times New Roman"/>
              </a:rPr>
              <a:t>Карточка заявки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7F0E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273497" name="Rectangle 1"/>
          <p:cNvSpPr/>
          <p:nvPr/>
        </p:nvSpPr>
        <p:spPr bwMode="auto"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970917" name="Rounded Rectangle 2"/>
          <p:cNvSpPr/>
          <p:nvPr/>
        </p:nvSpPr>
        <p:spPr bwMode="auto">
          <a:xfrm>
            <a:off x="9646920" y="749808"/>
            <a:ext cx="2011680" cy="384048"/>
          </a:xfrm>
          <a:prstGeom prst="roundRect">
            <a:avLst>
              <a:gd name="adj" fmla="val 16667"/>
            </a:avLst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1200" b="1">
                <a:solidFill>
                  <a:srgbClr val="8E4A2A"/>
                </a:solidFill>
                <a:latin typeface="Times New Roman"/>
              </a:rPr>
              <a:t>Диаграммы</a:t>
            </a:r>
            <a:endParaRPr/>
          </a:p>
        </p:txBody>
      </p:sp>
      <p:sp>
        <p:nvSpPr>
          <p:cNvPr id="711984073" name="TextBox 3"/>
          <p:cNvSpPr txBox="1"/>
          <p:nvPr/>
        </p:nvSpPr>
        <p:spPr bwMode="auto"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231B14"/>
                </a:solidFill>
                <a:latin typeface="Times New Roman"/>
              </a:rPr>
              <a:t>Диаграммы архитектуры и структуры</a:t>
            </a:r>
            <a:endParaRPr/>
          </a:p>
        </p:txBody>
      </p:sp>
      <p:pic>
        <p:nvPicPr>
          <p:cNvPr id="1663828369" name="Picture 5" descr="diagram_use_cas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0080" y="1737360"/>
            <a:ext cx="3931920" cy="2022130"/>
          </a:xfrm>
          <a:prstGeom prst="rect">
            <a:avLst/>
          </a:prstGeom>
        </p:spPr>
      </p:pic>
      <p:sp>
        <p:nvSpPr>
          <p:cNvPr id="1554225131" name="TextBox 6"/>
          <p:cNvSpPr txBox="1"/>
          <p:nvPr/>
        </p:nvSpPr>
        <p:spPr bwMode="auto">
          <a:xfrm>
            <a:off x="640080" y="37947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0">
                <a:solidFill>
                  <a:srgbClr val="8E4A2A"/>
                </a:solidFill>
                <a:latin typeface="Times New Roman"/>
              </a:rPr>
              <a:t>Диаграмма вариантов использования</a:t>
            </a:r>
            <a:endParaRPr/>
          </a:p>
        </p:txBody>
      </p:sp>
      <p:pic>
        <p:nvPicPr>
          <p:cNvPr id="487457284" name="Picture 7" descr="diagram_er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400800" y="1737360"/>
            <a:ext cx="3931920" cy="2022130"/>
          </a:xfrm>
          <a:prstGeom prst="rect">
            <a:avLst/>
          </a:prstGeom>
        </p:spPr>
      </p:pic>
      <p:sp>
        <p:nvSpPr>
          <p:cNvPr id="1759816315" name="TextBox 8"/>
          <p:cNvSpPr txBox="1"/>
          <p:nvPr/>
        </p:nvSpPr>
        <p:spPr bwMode="auto">
          <a:xfrm>
            <a:off x="6400800" y="37947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0">
                <a:solidFill>
                  <a:srgbClr val="8E4A2A"/>
                </a:solidFill>
                <a:latin typeface="Times New Roman"/>
              </a:rPr>
              <a:t>ER-модель базы данных</a:t>
            </a:r>
            <a:endParaRPr/>
          </a:p>
        </p:txBody>
      </p:sp>
      <p:pic>
        <p:nvPicPr>
          <p:cNvPr id="911961845" name="Picture 9" descr="diagram_architectur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40080" y="3840480"/>
            <a:ext cx="3931920" cy="2022130"/>
          </a:xfrm>
          <a:prstGeom prst="rect">
            <a:avLst/>
          </a:prstGeom>
        </p:spPr>
      </p:pic>
      <p:sp>
        <p:nvSpPr>
          <p:cNvPr id="634927988" name="TextBox 10"/>
          <p:cNvSpPr txBox="1"/>
          <p:nvPr/>
        </p:nvSpPr>
        <p:spPr bwMode="auto">
          <a:xfrm>
            <a:off x="640080" y="58978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0">
                <a:solidFill>
                  <a:srgbClr val="8E4A2A"/>
                </a:solidFill>
                <a:latin typeface="Times New Roman"/>
              </a:rPr>
              <a:t>Трехуровневая архитектура</a:t>
            </a:r>
            <a:endParaRPr/>
          </a:p>
        </p:txBody>
      </p:sp>
      <p:pic>
        <p:nvPicPr>
          <p:cNvPr id="1642917373" name="Picture 11" descr="diagram_postman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400800" y="3840480"/>
            <a:ext cx="3931920" cy="2022130"/>
          </a:xfrm>
          <a:prstGeom prst="rect">
            <a:avLst/>
          </a:prstGeom>
        </p:spPr>
      </p:pic>
      <p:sp>
        <p:nvSpPr>
          <p:cNvPr id="872363549" name="TextBox 12"/>
          <p:cNvSpPr txBox="1"/>
          <p:nvPr/>
        </p:nvSpPr>
        <p:spPr bwMode="auto">
          <a:xfrm>
            <a:off x="6400800" y="58978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0">
                <a:solidFill>
                  <a:srgbClr val="8E4A2A"/>
                </a:solidFill>
                <a:latin typeface="Times New Roman"/>
              </a:rPr>
              <a:t>Postman: API-примеры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7F0E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805541" name="Rectangle 1"/>
          <p:cNvSpPr/>
          <p:nvPr/>
        </p:nvSpPr>
        <p:spPr bwMode="auto"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5112315" name="Rounded Rectangle 2"/>
          <p:cNvSpPr/>
          <p:nvPr/>
        </p:nvSpPr>
        <p:spPr bwMode="auto">
          <a:xfrm>
            <a:off x="9646920" y="749808"/>
            <a:ext cx="2011680" cy="384048"/>
          </a:xfrm>
          <a:prstGeom prst="roundRect">
            <a:avLst>
              <a:gd name="adj" fmla="val 16667"/>
            </a:avLst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1200" b="1">
                <a:solidFill>
                  <a:srgbClr val="8E4A2A"/>
                </a:solidFill>
                <a:latin typeface="Times New Roman"/>
              </a:rPr>
              <a:t>БД</a:t>
            </a:r>
            <a:endParaRPr/>
          </a:p>
        </p:txBody>
      </p:sp>
      <p:sp>
        <p:nvSpPr>
          <p:cNvPr id="320974552" name="TextBox 3"/>
          <p:cNvSpPr txBox="1"/>
          <p:nvPr/>
        </p:nvSpPr>
        <p:spPr bwMode="auto"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231B14"/>
                </a:solidFill>
                <a:latin typeface="Times New Roman"/>
              </a:rPr>
              <a:t>Структура данных</a:t>
            </a:r>
            <a:endParaRPr/>
          </a:p>
        </p:txBody>
      </p:sp>
      <p:pic>
        <p:nvPicPr>
          <p:cNvPr id="870242685" name="Picture 5" descr="diagram_db_user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0080" y="1737360"/>
            <a:ext cx="3931920" cy="2097024"/>
          </a:xfrm>
          <a:prstGeom prst="rect">
            <a:avLst/>
          </a:prstGeom>
        </p:spPr>
      </p:pic>
      <p:sp>
        <p:nvSpPr>
          <p:cNvPr id="17612292" name="TextBox 6"/>
          <p:cNvSpPr txBox="1"/>
          <p:nvPr/>
        </p:nvSpPr>
        <p:spPr bwMode="auto">
          <a:xfrm>
            <a:off x="640080" y="37947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0">
                <a:solidFill>
                  <a:srgbClr val="8E4A2A"/>
                </a:solidFill>
                <a:latin typeface="Times New Roman"/>
              </a:rPr>
              <a:t>Структура таблицы пользователей</a:t>
            </a:r>
            <a:endParaRPr/>
          </a:p>
        </p:txBody>
      </p:sp>
      <p:pic>
        <p:nvPicPr>
          <p:cNvPr id="778091634" name="Picture 7" descr="diagram_db_tickets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400800" y="1737360"/>
            <a:ext cx="3931920" cy="2097024"/>
          </a:xfrm>
          <a:prstGeom prst="rect">
            <a:avLst/>
          </a:prstGeom>
        </p:spPr>
      </p:pic>
      <p:sp>
        <p:nvSpPr>
          <p:cNvPr id="2071080944" name="TextBox 8"/>
          <p:cNvSpPr txBox="1"/>
          <p:nvPr/>
        </p:nvSpPr>
        <p:spPr bwMode="auto">
          <a:xfrm>
            <a:off x="6400800" y="37947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0">
                <a:solidFill>
                  <a:srgbClr val="8E4A2A"/>
                </a:solidFill>
                <a:latin typeface="Times New Roman"/>
              </a:rPr>
              <a:t>Структура таблицы заявок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7F0E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16374" name="Rectangle 1"/>
          <p:cNvSpPr/>
          <p:nvPr/>
        </p:nvSpPr>
        <p:spPr bwMode="auto"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511283" name="Rounded Rectangle 2"/>
          <p:cNvSpPr/>
          <p:nvPr/>
        </p:nvSpPr>
        <p:spPr bwMode="auto">
          <a:xfrm>
            <a:off x="9646920" y="749808"/>
            <a:ext cx="2011680" cy="384048"/>
          </a:xfrm>
          <a:prstGeom prst="roundRect">
            <a:avLst>
              <a:gd name="adj" fmla="val 16667"/>
            </a:avLst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1200" b="1">
                <a:solidFill>
                  <a:srgbClr val="8E4A2A"/>
                </a:solidFill>
                <a:latin typeface="Times New Roman"/>
              </a:rPr>
              <a:t>Backend</a:t>
            </a:r>
            <a:endParaRPr/>
          </a:p>
        </p:txBody>
      </p:sp>
      <p:sp>
        <p:nvSpPr>
          <p:cNvPr id="2081249581" name="TextBox 3"/>
          <p:cNvSpPr txBox="1"/>
          <p:nvPr/>
        </p:nvSpPr>
        <p:spPr bwMode="auto"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231B14"/>
                </a:solidFill>
                <a:latin typeface="Times New Roman"/>
              </a:rPr>
              <a:t>Серверная часть и тестирование</a:t>
            </a:r>
            <a:endParaRPr/>
          </a:p>
        </p:txBody>
      </p:sp>
      <p:sp>
        <p:nvSpPr>
          <p:cNvPr id="1856061264" name="TextBox 5"/>
          <p:cNvSpPr txBox="1"/>
          <p:nvPr/>
        </p:nvSpPr>
        <p:spPr bwMode="auto">
          <a:xfrm>
            <a:off x="914400" y="1828800"/>
            <a:ext cx="1024128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rPr/>
              <a:t>Реализованы маршруты, контроллеры, роли и валидация в Laravel.</a:t>
            </a:r>
            <a:endParaRPr/>
          </a:p>
          <a:p>
            <a:pPr algn="l">
              <a:lnSpc>
                <a:spcPct val="114999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rPr/>
              <a:t>Подготовлены тестовые сценарии для ключевых операций: вход, создание, обработка и закрытие.</a:t>
            </a:r>
            <a:endParaRPr/>
          </a:p>
          <a:p>
            <a:pPr algn="l">
              <a:lnSpc>
                <a:spcPct val="114999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rPr/>
              <a:t>Система готова к локальному запуску через composer, migrate и seed.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7F0E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6718564" name="Rectangle 1"/>
          <p:cNvSpPr/>
          <p:nvPr/>
        </p:nvSpPr>
        <p:spPr bwMode="auto"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4843794" name="Rounded Rectangle 2"/>
          <p:cNvSpPr/>
          <p:nvPr/>
        </p:nvSpPr>
        <p:spPr bwMode="auto">
          <a:xfrm>
            <a:off x="9646920" y="749808"/>
            <a:ext cx="2011680" cy="384048"/>
          </a:xfrm>
          <a:prstGeom prst="roundRect">
            <a:avLst>
              <a:gd name="adj" fmla="val 16667"/>
            </a:avLst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1200" b="1">
                <a:solidFill>
                  <a:srgbClr val="8E4A2A"/>
                </a:solidFill>
                <a:latin typeface="Times New Roman"/>
              </a:rPr>
              <a:t>Эффективность</a:t>
            </a:r>
            <a:endParaRPr/>
          </a:p>
        </p:txBody>
      </p:sp>
      <p:sp>
        <p:nvSpPr>
          <p:cNvPr id="601201825" name="TextBox 3"/>
          <p:cNvSpPr txBox="1"/>
          <p:nvPr/>
        </p:nvSpPr>
        <p:spPr bwMode="auto"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231B14"/>
                </a:solidFill>
                <a:latin typeface="Times New Roman"/>
              </a:rPr>
              <a:t>Экономическое обоснование</a:t>
            </a:r>
            <a:endParaRPr/>
          </a:p>
        </p:txBody>
      </p:sp>
      <p:sp>
        <p:nvSpPr>
          <p:cNvPr id="899127626" name="TextBox 5"/>
          <p:cNvSpPr txBox="1"/>
          <p:nvPr/>
        </p:nvSpPr>
        <p:spPr bwMode="auto">
          <a:xfrm>
            <a:off x="914400" y="1828800"/>
            <a:ext cx="1024128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rPr/>
              <a:t>Оценены затраты на разработку и подготовку проекта к защите.</a:t>
            </a:r>
            <a:endParaRPr/>
          </a:p>
          <a:p>
            <a:pPr algn="l">
              <a:lnSpc>
                <a:spcPct val="114999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rPr/>
              <a:t>Система сокращает ручной труд и повышает прозрачность обработки заявок.</a:t>
            </a:r>
            <a:endParaRPr/>
          </a:p>
          <a:p>
            <a:pPr algn="l">
              <a:lnSpc>
                <a:spcPct val="114999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rPr/>
              <a:t>Решение оправдано для учебной организации и локального использования.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7F0E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386231" name="Rectangle 1"/>
          <p:cNvSpPr/>
          <p:nvPr/>
        </p:nvSpPr>
        <p:spPr bwMode="auto"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0983686" name="Rounded Rectangle 2"/>
          <p:cNvSpPr/>
          <p:nvPr/>
        </p:nvSpPr>
        <p:spPr bwMode="auto">
          <a:xfrm>
            <a:off x="9646920" y="749808"/>
            <a:ext cx="2011680" cy="384048"/>
          </a:xfrm>
          <a:prstGeom prst="roundRect">
            <a:avLst>
              <a:gd name="adj" fmla="val 16667"/>
            </a:avLst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1200" b="1">
                <a:solidFill>
                  <a:srgbClr val="8E4A2A"/>
                </a:solidFill>
                <a:latin typeface="Times New Roman"/>
              </a:rPr>
              <a:t>Выводы</a:t>
            </a:r>
            <a:endParaRPr/>
          </a:p>
        </p:txBody>
      </p:sp>
      <p:sp>
        <p:nvSpPr>
          <p:cNvPr id="712175262" name="TextBox 3"/>
          <p:cNvSpPr txBox="1"/>
          <p:nvPr/>
        </p:nvSpPr>
        <p:spPr bwMode="auto"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231B14"/>
                </a:solidFill>
                <a:latin typeface="Times New Roman"/>
              </a:rPr>
              <a:t>Заключение</a:t>
            </a:r>
            <a:endParaRPr/>
          </a:p>
        </p:txBody>
      </p:sp>
      <p:sp>
        <p:nvSpPr>
          <p:cNvPr id="1766286737" name="TextBox 5"/>
          <p:cNvSpPr txBox="1"/>
          <p:nvPr/>
        </p:nvSpPr>
        <p:spPr bwMode="auto">
          <a:xfrm>
            <a:off x="914400" y="1828800"/>
            <a:ext cx="1024128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Aft>
                <a:spcPts val="1000"/>
              </a:spcAft>
              <a:defRPr sz="1900">
                <a:solidFill>
                  <a:srgbClr val="231B14"/>
                </a:solidFill>
                <a:latin typeface="Times New Roman"/>
              </a:defRPr>
            </a:pPr>
            <a:r>
              <a:rPr/>
              <a:t>Разработано web-приложение управления заявками на Laravel.</a:t>
            </a:r>
            <a:endParaRPr/>
          </a:p>
          <a:p>
            <a:pPr algn="l">
              <a:lnSpc>
                <a:spcPct val="114999"/>
              </a:lnSpc>
              <a:spcAft>
                <a:spcPts val="1000"/>
              </a:spcAft>
              <a:defRPr sz="1900">
                <a:solidFill>
                  <a:srgbClr val="231B14"/>
                </a:solidFill>
                <a:latin typeface="Times New Roman"/>
              </a:defRPr>
            </a:pPr>
            <a:r>
              <a:rPr/>
              <a:t>Интерфейс адаптирован для демонстрации и защиты проекта.</a:t>
            </a:r>
            <a:endParaRPr/>
          </a:p>
          <a:p>
            <a:pPr algn="l">
              <a:lnSpc>
                <a:spcPct val="114999"/>
              </a:lnSpc>
              <a:spcAft>
                <a:spcPts val="1000"/>
              </a:spcAft>
              <a:defRPr sz="1900">
                <a:solidFill>
                  <a:srgbClr val="231B14"/>
                </a:solidFill>
                <a:latin typeface="Times New Roman"/>
              </a:defRPr>
            </a:pPr>
            <a:r>
              <a:rPr/>
              <a:t>Серверная часть реализует роли, валидацию и локальное развертывание.</a:t>
            </a:r>
            <a:endParaRPr/>
          </a:p>
          <a:p>
            <a:pPr algn="l">
              <a:lnSpc>
                <a:spcPct val="114999"/>
              </a:lnSpc>
              <a:spcAft>
                <a:spcPts val="1000"/>
              </a:spcAft>
              <a:defRPr sz="1900">
                <a:solidFill>
                  <a:srgbClr val="231B14"/>
                </a:solidFill>
                <a:latin typeface="Times New Roman"/>
              </a:defRPr>
            </a:pPr>
            <a:r>
              <a:rPr/>
              <a:t>Показатель эффективности: автоматизация учета заявок и снижение ручных затрат.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2026-06-15T22:40:52Z</dcterms:modified>
  <cp:category/>
</cp:coreProperties>
</file>