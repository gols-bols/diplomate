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B14"/>
                </a:solidFill>
                <a:latin typeface="Times New Roman"/>
              </a:rPr>
              <a:t>Разработка информационной системы управления заявками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6C5C49"/>
                </a:solidFill>
                <a:latin typeface="Times New Roman"/>
              </a:rPr>
              <a:t>Курсовой проект по разработке web-приложения на Laravel с использованием MySQL и Git.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840480"/>
            <a:ext cx="4572000" cy="132588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968496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Times New Roman"/>
              </a:rPr>
              <a:t>Основные технологии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251960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Laravel 11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PHP 8.2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MySQL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840480"/>
            <a:ext cx="5577840" cy="1325880"/>
          </a:xfrm>
          <a:prstGeom prst="roundRect">
            <a:avLst/>
          </a:prstGeom>
          <a:solidFill>
            <a:srgbClr val="FFFBF5"/>
          </a:solidFill>
          <a:ln w="15240">
            <a:solidFill>
              <a:srgbClr val="DCC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3968496"/>
            <a:ext cx="51755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E4A2A"/>
                </a:solidFill>
                <a:latin typeface="Times New Roman"/>
              </a:rPr>
              <a:t>Назначение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1B14"/>
                </a:solidFill>
                <a:latin typeface="Times New Roman"/>
              </a:rPr>
              <a:t>Централизованный учет, просмотр и сопровождение внутренних заявок пользователей.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C5C49"/>
                </a:solidFill>
                <a:latin typeface="Times New Roman"/>
              </a:rPr>
              <a:t>Слайд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Оглавление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Times New Roman"/>
              </a:defRPr>
            </a:pPr>
            <a:r>
              <a:t>Введение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Times New Roman"/>
              </a:defRPr>
            </a:pPr>
            <a:r>
              <a:t>Анализ предметной области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Times New Roman"/>
              </a:defRPr>
            </a:pPr>
            <a:r>
              <a:t>Основная часть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1B14"/>
                </a:solidFill>
                <a:latin typeface="Times New Roman"/>
              </a:defRPr>
            </a:pPr>
            <a:r>
              <a:t>Заключение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Актуальность: автоматизация учета внутренних заявок в организации.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Цель: создать web-систему управления заявками на Laravel с MySQL.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Задачи: анализ, проектирование, клиентская и серверная часть, тестирование.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Исследование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Анализ предметной области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Изучена структура организации, роли и бизнес-процессы заявок.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Определены требования к статусам, правам доступа и данным заявки.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Выбран web-подход на Laravel для удобства эксплуатации и развития.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Разработка клиентской части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5 / 10</a:t>
            </a:r>
          </a:p>
        </p:txBody>
      </p:sp>
      <p:pic>
        <p:nvPicPr>
          <p:cNvPr id="6" name="Picture 5" descr="mocku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3931920" cy="22117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Вход в систему</a:t>
            </a:r>
          </a:p>
        </p:txBody>
      </p:sp>
      <p:pic>
        <p:nvPicPr>
          <p:cNvPr id="8" name="Picture 7" descr="mockup_jou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3931920" cy="22117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Журнал заявок</a:t>
            </a:r>
          </a:p>
        </p:txBody>
      </p:sp>
      <p:pic>
        <p:nvPicPr>
          <p:cNvPr id="10" name="Picture 9" descr="mockup_cr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3931920" cy="22117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Добавление заявки</a:t>
            </a:r>
          </a:p>
        </p:txBody>
      </p:sp>
      <p:pic>
        <p:nvPicPr>
          <p:cNvPr id="12" name="Picture 11" descr="mockup_ti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840480"/>
            <a:ext cx="3931920" cy="22117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Карточка заявки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Диаграммы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Диаграммы архитектуры и структуры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6 / 10</a:t>
            </a:r>
          </a:p>
        </p:txBody>
      </p:sp>
      <p:pic>
        <p:nvPicPr>
          <p:cNvPr id="6" name="Picture 5" descr="diagram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3931920" cy="20221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Диаграмма вариантов использования</a:t>
            </a:r>
          </a:p>
        </p:txBody>
      </p:sp>
      <p:pic>
        <p:nvPicPr>
          <p:cNvPr id="8" name="Picture 7" descr="diagram_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3931920" cy="20221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ER-модель базы данных</a:t>
            </a:r>
          </a:p>
        </p:txBody>
      </p:sp>
      <p:pic>
        <p:nvPicPr>
          <p:cNvPr id="10" name="Picture 9" descr="diagra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3931920" cy="20221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Трехуровневая архитектура</a:t>
            </a:r>
          </a:p>
        </p:txBody>
      </p:sp>
      <p:pic>
        <p:nvPicPr>
          <p:cNvPr id="12" name="Picture 11" descr="diagram_postm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840480"/>
            <a:ext cx="3931920" cy="20221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8978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Postman: API-примеры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БД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Структура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7 / 10</a:t>
            </a:r>
          </a:p>
        </p:txBody>
      </p:sp>
      <p:pic>
        <p:nvPicPr>
          <p:cNvPr id="6" name="Picture 5" descr="diagram_db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3931920" cy="2097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Структура таблицы пользователей</a:t>
            </a:r>
          </a:p>
        </p:txBody>
      </p:sp>
      <p:pic>
        <p:nvPicPr>
          <p:cNvPr id="8" name="Picture 7" descr="diagram_db_ti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3931920" cy="2097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37947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E4A2A"/>
                </a:solidFill>
                <a:latin typeface="Times New Roman"/>
              </a:rPr>
              <a:t>Структура таблицы заявок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Серверная часть и тестирование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Реализованы маршруты, контроллеры, роли и валидация в Laravel.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Подготовлены тестовые сценарии для ключевых операций: вход, создание, обработка и закрытие.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Система готова к локальному запуску через composer, migrate и seed.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Эффективность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Экономическое обоснование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Оценены затраты на разработку и подготовку проекта к защите.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Система сокращает ручной труд и повышает прозрачность обработки заявок.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231B14"/>
                </a:solidFill>
                <a:latin typeface="Times New Roman"/>
              </a:defRPr>
            </a:pPr>
            <a:r>
              <a:t>Решение оправдано для учебной организации и локального использования.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E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46920" y="749808"/>
            <a:ext cx="2011680" cy="384048"/>
          </a:xfrm>
          <a:prstGeom prst="roundRect">
            <a:avLst/>
          </a:prstGeom>
          <a:solidFill>
            <a:srgbClr val="E0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E4A2A"/>
                </a:solidFill>
                <a:latin typeface="Times New Roman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1B14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C5C49"/>
                </a:solidFill>
                <a:latin typeface="Times New Roman"/>
              </a:rPr>
              <a:t>Слайд 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Разработано web-приложение управления заявками на Laravel.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Интерфейс адаптирован для демонстрации и защиты проекта.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Серверная часть реализует роли, валидацию и локальное развертывание.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1B14"/>
                </a:solidFill>
                <a:latin typeface="Times New Roman"/>
              </a:defRPr>
            </a:pPr>
            <a:r>
              <a:t>Показатель эффективности: автоматизация учета заявок и снижение ручных затрат.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